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Calibri"/>
              </a:defRPr>
            </a:pPr>
            <a:r>
              <a:rPr sz="1300" b="0" i="0" u="none" strike="noStrike">
                <a:solidFill>
                  <a:srgbClr val="1F2933"/>
                </a:solidFill>
                <a:latin typeface="Calibri"/>
              </a:rPr>
              <a:t>40 unseen framing templates (n = 572)</a:t>
            </a:r>
          </a:p>
        </c:rich>
      </c:tx>
      <c:layout/>
      <c:overlay val="0"/>
    </c:title>
    <c:autoTitleDeleted val="0"/>
    <c:plotArea>
      <c:layout/>
      <c:barChart>
        <c:barDir val="bar"/>
        <c:grouping val="clustered"/>
        <c:varyColors val="0"/>
        <c:ser>
          <c:idx val="0"/>
          <c:order val="0"/>
          <c:tx>
            <c:strRef>
              <c:f>Sheet1!$B$1</c:f>
              <c:strCache>
                <c:ptCount val="1"/>
                <c:pt idx="0">
                  <c:v>Held-out AUC</c:v>
                </c:pt>
              </c:strCache>
            </c:strRef>
          </c:tx>
          <c:spPr>
            <a:solidFill>
              <a:srgbClr val="1C7293"/>
            </a:solidFill>
            <a:effectLst/>
          </c:spPr>
          <c:invertIfNegative val="0"/>
          <c:dLbls>
            <c:numFmt formatCode="0.00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Trained probe</c:v>
                  </c:pt>
                  <c:pt idx="1">
                    <c:v>v_C projection
(no fitting)</c:v>
                  </c:pt>
                  <c:pt idx="2">
                    <c:v>TF-IDF uni+bigram</c:v>
                  </c:pt>
                  <c:pt idx="3">
                    <c:v>Bag of words</c:v>
                  </c:pt>
                  <c:pt idx="4">
                    <c:v>Random direction</c:v>
                  </c:pt>
                </c:lvl>
              </c:multiLvlStrCache>
            </c:multiLvlStrRef>
          </c:cat>
          <c:val>
            <c:numRef>
              <c:f>Sheet1!$B$2:$B$6</c:f>
              <c:numCache>
                <c:formatCode>General</c:formatCode>
                <c:ptCount val="5"/>
                <c:pt idx="0">
                  <c:v>0.973</c:v>
                </c:pt>
                <c:pt idx="1">
                  <c:v>0.935</c:v>
                </c:pt>
                <c:pt idx="2">
                  <c:v>0.847</c:v>
                </c:pt>
                <c:pt idx="3">
                  <c:v>0.753</c:v>
                </c:pt>
                <c:pt idx="4">
                  <c:v>0.408</c:v>
                </c:pt>
              </c:numCache>
            </c:numRef>
          </c:val>
        </c:ser>
        <c:dLbls>
          <c:numFmt formatCode="0.00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12700" cap="flat">
              <a:solidFill>
                <a:srgbClr val="DDE3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B7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L18</c:v>
                </c:pt>
              </c:strCache>
            </c:strRef>
          </c:tx>
          <c:spPr>
            <a:solidFill>
              <a:srgbClr val="1C7293"/>
            </a:solidFill>
            <a:effectLst/>
          </c:spPr>
          <c:invertIfNegative val="0"/>
          <c:dLbls>
            <c:numFmt formatCode="+0.00;-0.00;0.0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Random
(the null)</c:v>
                  </c:pt>
                  <c:pt idx="1">
                    <c:v>v_C</c:v>
                  </c:pt>
                  <c:pt idx="2">
                    <c:v>v_C ⊥ r̂</c:v>
                  </c:pt>
                  <c:pt idx="3">
                    <c:v>r̂ (reference)</c:v>
                  </c:pt>
                </c:lvl>
              </c:multiLvlStrCache>
            </c:multiLvlStrRef>
          </c:cat>
          <c:val>
            <c:numRef>
              <c:f>Sheet1!$B$2:$B$5</c:f>
              <c:numCache>
                <c:formatCode>General</c:formatCode>
                <c:ptCount val="4"/>
                <c:pt idx="0">
                  <c:v>0</c:v>
                </c:pt>
                <c:pt idx="1">
                  <c:v>0.25</c:v>
                </c:pt>
                <c:pt idx="2">
                  <c:v>0.27</c:v>
                </c:pt>
                <c:pt idx="3">
                  <c:v>0.31</c:v>
                </c:pt>
              </c:numCache>
            </c:numRef>
          </c:val>
        </c:ser>
        <c:ser>
          <c:idx val="1"/>
          <c:order val="1"/>
          <c:tx>
            <c:strRef>
              <c:f>Sheet1!$C$1</c:f>
              <c:strCache>
                <c:ptCount val="1"/>
                <c:pt idx="0">
                  <c:v>L22</c:v>
                </c:pt>
              </c:strCache>
            </c:strRef>
          </c:tx>
          <c:spPr>
            <a:solidFill>
              <a:srgbClr val="9CC3D5"/>
            </a:solidFill>
            <a:effectLst/>
          </c:spPr>
          <c:invertIfNegative val="0"/>
          <c:dLbls>
            <c:numFmt formatCode="+0.00;-0.00;0.0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Random
(the null)</c:v>
                  </c:pt>
                  <c:pt idx="1">
                    <c:v>v_C</c:v>
                  </c:pt>
                  <c:pt idx="2">
                    <c:v>v_C ⊥ r̂</c:v>
                  </c:pt>
                  <c:pt idx="3">
                    <c:v>r̂ (reference)</c:v>
                  </c:pt>
                </c:lvl>
              </c:multiLvlStrCache>
            </c:multiLvlStrRef>
          </c:cat>
          <c:val>
            <c:numRef>
              <c:f>Sheet1!$C$2:$C$5</c:f>
              <c:numCache>
                <c:formatCode>General</c:formatCode>
                <c:ptCount val="4"/>
                <c:pt idx="0">
                  <c:v>0.01</c:v>
                </c:pt>
                <c:pt idx="1">
                  <c:v>0.08</c:v>
                </c:pt>
                <c:pt idx="2">
                  <c:v/>
                </c:pt>
                <c:pt idx="3">
                  <c:v>0.23</c:v>
                </c:pt>
              </c:numCache>
            </c:numRef>
          </c:val>
        </c:ser>
        <c:dLbls>
          <c:numFmt formatCode="+0.00;-0.00;0.0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0.4"/>
          <c:min val="0"/>
        </c:scaling>
        <c:delete val="0"/>
        <c:axPos val="l"/>
        <c:majorGridlines>
          <c:spPr>
            <a:ln w="12700" cap="flat">
              <a:solidFill>
                <a:srgbClr val="DD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D"/>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F29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claims: (1) v_C exists, generalizes to held-out framing templates and is distinct from the refusal and persona directions; (2) steering along it causally restores refusal. Claim 1 holds. Claim 2 holds at L18 only, and one control is still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is the load-bearing step: without it, any v_C number is uninterpretable because we would not know the extraction code works. Held-out TEMPLATES rather than held-out examples is the design decision that makes the generalization claim mean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Beating a text baseline is a number, not a category. 0.935 vs 0.847 is a real gap but not a chasm: 'beyond unigram and bigram vocabulary cues' is defensible, 'beyond surface form' is not. All of this is correlational — nothing here shows the model USES v_C.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dose is fixed in code as the largest alpha still producing coherent text, chosen before the numbers were seen. L18 and L22 are compared as fractions of the residual norm because that norm doubles with depth — the same raw alpha is a different dose at L22.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open questions map onto the four ways this result could still be wrong. Items 1 and 2 on the TODO list are the ones that change the conclusion; the rest tighten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822960" y="1389888"/>
            <a:ext cx="10515600" cy="530352"/>
          </a:xfrm>
          <a:prstGeom prst="rect">
            <a:avLst/>
          </a:prstGeom>
          <a:noFill/>
          <a:ln/>
        </p:spPr>
        <p:txBody>
          <a:bodyPr wrap="square" lIns="0" tIns="0" rIns="0" bIns="0" rtlCol="0" anchor="ctr"/>
          <a:lstStyle/>
          <a:p>
            <a:pPr indent="0" marL="0">
              <a:buNone/>
            </a:pPr>
            <a:r>
              <a:rPr lang="en-US" sz="3400" dirty="0">
                <a:solidFill>
                  <a:srgbClr val="CADCFC"/>
                </a:solidFill>
                <a:latin typeface="Cambria" pitchFamily="34" charset="0"/>
                <a:ea typeface="Cambria" pitchFamily="34" charset="-122"/>
                <a:cs typeface="Cambria" pitchFamily="34" charset="-120"/>
              </a:rPr>
              <a:t>Do fiction jailbreaks work by changing</a:t>
            </a:r>
            <a:endParaRPr lang="en-US" sz="3400" dirty="0"/>
          </a:p>
        </p:txBody>
      </p:sp>
      <p:sp>
        <p:nvSpPr>
          <p:cNvPr id="3" name="Text 1"/>
          <p:cNvSpPr/>
          <p:nvPr/>
        </p:nvSpPr>
        <p:spPr>
          <a:xfrm>
            <a:off x="822960" y="1965960"/>
            <a:ext cx="10515600"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the model thinks is real?</a:t>
            </a:r>
            <a:endParaRPr lang="en-US" sz="4000" dirty="0"/>
          </a:p>
        </p:txBody>
      </p:sp>
      <p:sp>
        <p:nvSpPr>
          <p:cNvPr id="4" name="Text 2"/>
          <p:cNvSpPr/>
          <p:nvPr/>
        </p:nvSpPr>
        <p:spPr>
          <a:xfrm>
            <a:off x="822960" y="2880360"/>
            <a:ext cx="8778240" cy="73152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Extract a consequence direction v_C from real-vs-hypothetical framing pairs, then test whether steering along it causally restores refusal under fiction-framed attacks.</a:t>
            </a:r>
            <a:endParaRPr lang="en-US" sz="1500" dirty="0"/>
          </a:p>
        </p:txBody>
      </p:sp>
      <p:sp>
        <p:nvSpPr>
          <p:cNvPr id="5" name="Shape 3"/>
          <p:cNvSpPr/>
          <p:nvPr/>
        </p:nvSpPr>
        <p:spPr>
          <a:xfrm>
            <a:off x="822960" y="3977640"/>
            <a:ext cx="3291840" cy="960120"/>
          </a:xfrm>
          <a:prstGeom prst="roundRect">
            <a:avLst>
              <a:gd name="adj" fmla="val 7619"/>
            </a:avLst>
          </a:prstGeom>
          <a:solidFill>
            <a:srgbClr val="2C3E60"/>
          </a:solidFill>
          <a:ln/>
        </p:spPr>
      </p:sp>
      <p:sp>
        <p:nvSpPr>
          <p:cNvPr id="6" name="Shape 4"/>
          <p:cNvSpPr/>
          <p:nvPr/>
        </p:nvSpPr>
        <p:spPr>
          <a:xfrm>
            <a:off x="1051560" y="4224528"/>
            <a:ext cx="146304" cy="146304"/>
          </a:xfrm>
          <a:prstGeom prst="ellipse">
            <a:avLst/>
          </a:prstGeom>
          <a:solidFill>
            <a:srgbClr val="1C7293"/>
          </a:solidFill>
          <a:ln/>
        </p:spPr>
      </p:sp>
      <p:sp>
        <p:nvSpPr>
          <p:cNvPr id="7" name="Text 5"/>
          <p:cNvSpPr/>
          <p:nvPr/>
        </p:nvSpPr>
        <p:spPr>
          <a:xfrm>
            <a:off x="1298448" y="4133088"/>
            <a:ext cx="265176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Exists + generalizes</a:t>
            </a:r>
            <a:endParaRPr lang="en-US" sz="1200" dirty="0"/>
          </a:p>
        </p:txBody>
      </p:sp>
      <p:sp>
        <p:nvSpPr>
          <p:cNvPr id="8" name="Text 6"/>
          <p:cNvSpPr/>
          <p:nvPr/>
        </p:nvSpPr>
        <p:spPr>
          <a:xfrm>
            <a:off x="1298448" y="4425696"/>
            <a:ext cx="2651760" cy="292608"/>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0.935 held-out AUC</a:t>
            </a:r>
            <a:endParaRPr lang="en-US" sz="1100" dirty="0"/>
          </a:p>
        </p:txBody>
      </p:sp>
      <p:sp>
        <p:nvSpPr>
          <p:cNvPr id="9" name="Shape 7"/>
          <p:cNvSpPr/>
          <p:nvPr/>
        </p:nvSpPr>
        <p:spPr>
          <a:xfrm>
            <a:off x="4434840" y="3977640"/>
            <a:ext cx="3291840" cy="960120"/>
          </a:xfrm>
          <a:prstGeom prst="roundRect">
            <a:avLst>
              <a:gd name="adj" fmla="val 7619"/>
            </a:avLst>
          </a:prstGeom>
          <a:solidFill>
            <a:srgbClr val="2C3E60"/>
          </a:solidFill>
          <a:ln/>
        </p:spPr>
      </p:sp>
      <p:sp>
        <p:nvSpPr>
          <p:cNvPr id="10" name="Shape 8"/>
          <p:cNvSpPr/>
          <p:nvPr/>
        </p:nvSpPr>
        <p:spPr>
          <a:xfrm>
            <a:off x="4663440" y="4224528"/>
            <a:ext cx="146304" cy="146304"/>
          </a:xfrm>
          <a:prstGeom prst="ellipse">
            <a:avLst/>
          </a:prstGeom>
          <a:solidFill>
            <a:srgbClr val="1C7293"/>
          </a:solidFill>
          <a:ln/>
        </p:spPr>
      </p:sp>
      <p:sp>
        <p:nvSpPr>
          <p:cNvPr id="11" name="Text 9"/>
          <p:cNvSpPr/>
          <p:nvPr/>
        </p:nvSpPr>
        <p:spPr>
          <a:xfrm>
            <a:off x="4910328" y="4133088"/>
            <a:ext cx="265176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Distinct from r̂ and persona</a:t>
            </a:r>
            <a:endParaRPr lang="en-US" sz="1200" dirty="0"/>
          </a:p>
        </p:txBody>
      </p:sp>
      <p:sp>
        <p:nvSpPr>
          <p:cNvPr id="12" name="Text 10"/>
          <p:cNvSpPr/>
          <p:nvPr/>
        </p:nvSpPr>
        <p:spPr>
          <a:xfrm>
            <a:off x="4910328" y="4425696"/>
            <a:ext cx="2651760" cy="292608"/>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cos +0.09 / +0.24</a:t>
            </a:r>
            <a:endParaRPr lang="en-US" sz="1100" dirty="0"/>
          </a:p>
        </p:txBody>
      </p:sp>
      <p:sp>
        <p:nvSpPr>
          <p:cNvPr id="13" name="Shape 11"/>
          <p:cNvSpPr/>
          <p:nvPr/>
        </p:nvSpPr>
        <p:spPr>
          <a:xfrm>
            <a:off x="8046720" y="3977640"/>
            <a:ext cx="3291840" cy="960120"/>
          </a:xfrm>
          <a:prstGeom prst="roundRect">
            <a:avLst>
              <a:gd name="adj" fmla="val 7619"/>
            </a:avLst>
          </a:prstGeom>
          <a:solidFill>
            <a:srgbClr val="2C3E60"/>
          </a:solidFill>
          <a:ln/>
        </p:spPr>
      </p:sp>
      <p:sp>
        <p:nvSpPr>
          <p:cNvPr id="14" name="Shape 12"/>
          <p:cNvSpPr/>
          <p:nvPr/>
        </p:nvSpPr>
        <p:spPr>
          <a:xfrm>
            <a:off x="8275320" y="4224528"/>
            <a:ext cx="146304" cy="146304"/>
          </a:xfrm>
          <a:prstGeom prst="ellipse">
            <a:avLst/>
          </a:prstGeom>
          <a:solidFill>
            <a:srgbClr val="C77D3A"/>
          </a:solidFill>
          <a:ln/>
        </p:spPr>
      </p:sp>
      <p:sp>
        <p:nvSpPr>
          <p:cNvPr id="15" name="Text 13"/>
          <p:cNvSpPr/>
          <p:nvPr/>
        </p:nvSpPr>
        <p:spPr>
          <a:xfrm>
            <a:off x="8522208" y="4133088"/>
            <a:ext cx="265176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Causal?</a:t>
            </a:r>
            <a:endParaRPr lang="en-US" sz="1200" dirty="0"/>
          </a:p>
        </p:txBody>
      </p:sp>
      <p:sp>
        <p:nvSpPr>
          <p:cNvPr id="16" name="Text 14"/>
          <p:cNvSpPr/>
          <p:nvPr/>
        </p:nvSpPr>
        <p:spPr>
          <a:xfrm>
            <a:off x="8522208" y="4425696"/>
            <a:ext cx="2651760" cy="292608"/>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partly — and layer-specific</a:t>
            </a:r>
            <a:endParaRPr lang="en-US" sz="1100" dirty="0"/>
          </a:p>
        </p:txBody>
      </p:sp>
      <p:sp>
        <p:nvSpPr>
          <p:cNvPr id="17" name="Text 15"/>
          <p:cNvSpPr/>
          <p:nvPr/>
        </p:nvSpPr>
        <p:spPr>
          <a:xfrm>
            <a:off x="822960" y="5532120"/>
            <a:ext cx="54864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Research status · 14 August 2026</a:t>
            </a:r>
            <a:endParaRPr lang="en-US" sz="1300" dirty="0"/>
          </a:p>
        </p:txBody>
      </p:sp>
      <p:sp>
        <p:nvSpPr>
          <p:cNvPr id="18" name="Text 16"/>
          <p:cNvSpPr/>
          <p:nvPr/>
        </p:nvSpPr>
        <p:spPr>
          <a:xfrm>
            <a:off x="822960" y="5806440"/>
            <a:ext cx="7772400" cy="274320"/>
          </a:xfrm>
          <a:prstGeom prst="rect">
            <a:avLst/>
          </a:prstGeom>
          <a:noFill/>
          <a:ln/>
        </p:spPr>
        <p:txBody>
          <a:bodyPr wrap="square" lIns="0" tIns="0" rIns="0" bIns="0" rtlCol="0" anchor="ctr"/>
          <a:lstStyle/>
          <a:p>
            <a:pPr indent="0" marL="0">
              <a:buNone/>
            </a:pPr>
            <a:r>
              <a:rPr lang="en-US" sz="1100" dirty="0">
                <a:solidFill>
                  <a:srgbClr val="93A3B8"/>
                </a:solidFill>
                <a:latin typeface="Calibri" pitchFamily="34" charset="0"/>
                <a:ea typeface="Calibri" pitchFamily="34" charset="-122"/>
                <a:cs typeface="Calibri" pitchFamily="34" charset="-120"/>
              </a:rPr>
              <a:t>Qwen2.5-7B-Instruct · steering layers L18 and L22 · 3,800 judged generations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11064240" cy="603504"/>
          </a:xfrm>
          <a:prstGeom prst="rect">
            <a:avLst/>
          </a:prstGeom>
          <a:noFill/>
          <a:ln/>
        </p:spPr>
        <p:txBody>
          <a:bodyPr wrap="square" lIns="0" tIns="0" rIns="0" bIns="0" rtlCol="0" anchor="ctr"/>
          <a:lstStyle/>
          <a:p>
            <a:pPr indent="0" marL="0">
              <a:buNone/>
            </a:pPr>
            <a:r>
              <a:rPr lang="en-US" sz="3400" b="1" dirty="0">
                <a:solidFill>
                  <a:srgbClr val="1F2933"/>
                </a:solidFill>
                <a:latin typeface="Cambria" pitchFamily="34" charset="0"/>
                <a:ea typeface="Cambria" pitchFamily="34" charset="-122"/>
                <a:cs typeface="Cambria" pitchFamily="34" charset="-120"/>
              </a:rPr>
              <a:t>What has been done</a:t>
            </a:r>
            <a:endParaRPr lang="en-US" sz="3400" dirty="0"/>
          </a:p>
        </p:txBody>
      </p:sp>
      <p:sp>
        <p:nvSpPr>
          <p:cNvPr id="3" name="Text 1"/>
          <p:cNvSpPr/>
          <p:nvPr/>
        </p:nvSpPr>
        <p:spPr>
          <a:xfrm>
            <a:off x="548640" y="1097280"/>
            <a:ext cx="11064240" cy="292608"/>
          </a:xfrm>
          <a:prstGeom prst="rect">
            <a:avLst/>
          </a:prstGeom>
          <a:noFill/>
          <a:ln/>
        </p:spPr>
        <p:txBody>
          <a:bodyPr wrap="square" lIns="0" tIns="0" rIns="0" bIns="0" rtlCol="0" anchor="ctr"/>
          <a:lstStyle/>
          <a:p>
            <a:pPr indent="0" marL="0">
              <a:buNone/>
            </a:pPr>
            <a:r>
              <a:rPr lang="en-US" sz="1300" dirty="0">
                <a:solidFill>
                  <a:srgbClr val="5A6B7D"/>
                </a:solidFill>
                <a:latin typeface="Calibri" pitchFamily="34" charset="0"/>
                <a:ea typeface="Calibri" pitchFamily="34" charset="-122"/>
                <a:cs typeface="Calibri" pitchFamily="34" charset="-120"/>
              </a:rPr>
              <a:t>Every stage is artifact-keyed: unchanged inputs re-run as a no-op, and every number carries its git SHA and input hashes.</a:t>
            </a:r>
            <a:endParaRPr lang="en-US" sz="1300" dirty="0"/>
          </a:p>
        </p:txBody>
      </p:sp>
      <p:sp>
        <p:nvSpPr>
          <p:cNvPr id="4" name="Shape 2"/>
          <p:cNvSpPr/>
          <p:nvPr/>
        </p:nvSpPr>
        <p:spPr>
          <a:xfrm>
            <a:off x="566928" y="1645920"/>
            <a:ext cx="384048" cy="384048"/>
          </a:xfrm>
          <a:prstGeom prst="ellipse">
            <a:avLst/>
          </a:prstGeom>
          <a:solidFill>
            <a:srgbClr val="1B2A4A"/>
          </a:solidFill>
          <a:ln/>
        </p:spPr>
      </p:sp>
      <p:sp>
        <p:nvSpPr>
          <p:cNvPr id="5" name="Text 3"/>
          <p:cNvSpPr/>
          <p:nvPr/>
        </p:nvSpPr>
        <p:spPr>
          <a:xfrm>
            <a:off x="566928"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33856" y="1609344"/>
            <a:ext cx="10424160"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Validated the extraction machinery</a:t>
            </a:r>
            <a:endParaRPr lang="en-US" sz="1500" dirty="0"/>
          </a:p>
        </p:txBody>
      </p:sp>
      <p:sp>
        <p:nvSpPr>
          <p:cNvPr id="7" name="Text 5"/>
          <p:cNvSpPr/>
          <p:nvPr/>
        </p:nvSpPr>
        <p:spPr>
          <a:xfrm>
            <a:off x="1133856" y="1883664"/>
            <a:ext cx="6949440" cy="27432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Rebuilt Arditi's refusal direction r̂ with our own code on the same 256 prompts.</a:t>
            </a:r>
            <a:endParaRPr lang="en-US" sz="1200" dirty="0"/>
          </a:p>
        </p:txBody>
      </p:sp>
      <p:sp>
        <p:nvSpPr>
          <p:cNvPr id="8" name="Text 6"/>
          <p:cNvSpPr/>
          <p:nvPr/>
        </p:nvSpPr>
        <p:spPr>
          <a:xfrm>
            <a:off x="8183880" y="1883664"/>
            <a:ext cx="3429000" cy="274320"/>
          </a:xfrm>
          <a:prstGeom prst="rect">
            <a:avLst/>
          </a:prstGeom>
          <a:noFill/>
          <a:ln/>
        </p:spPr>
        <p:txBody>
          <a:bodyPr wrap="square" lIns="0" tIns="0" rIns="0" bIns="0" rtlCol="0" anchor="ctr"/>
          <a:lstStyle/>
          <a:p>
            <a:pPr indent="0" marL="0">
              <a:buNone/>
            </a:pPr>
            <a:r>
              <a:rPr lang="en-US" sz="1100" i="1" dirty="0">
                <a:solidFill>
                  <a:srgbClr val="5A6B7D"/>
                </a:solidFill>
                <a:latin typeface="Calibri" pitchFamily="34" charset="0"/>
                <a:ea typeface="Calibri" pitchFamily="34" charset="-122"/>
                <a:cs typeface="Calibri" pitchFamily="34" charset="-120"/>
              </a:rPr>
              <a:t>cos = 0.9999 · permutation p &lt; 0.001</a:t>
            </a:r>
            <a:endParaRPr lang="en-US" sz="1100" dirty="0"/>
          </a:p>
        </p:txBody>
      </p:sp>
      <p:sp>
        <p:nvSpPr>
          <p:cNvPr id="9" name="Shape 7"/>
          <p:cNvSpPr/>
          <p:nvPr/>
        </p:nvSpPr>
        <p:spPr>
          <a:xfrm>
            <a:off x="566928" y="2368296"/>
            <a:ext cx="11018520" cy="0"/>
          </a:xfrm>
          <a:prstGeom prst="line">
            <a:avLst/>
          </a:prstGeom>
          <a:noFill/>
          <a:ln w="12700">
            <a:solidFill>
              <a:srgbClr val="DDE3EA"/>
            </a:solidFill>
            <a:prstDash val="solid"/>
          </a:ln>
        </p:spPr>
      </p:sp>
      <p:sp>
        <p:nvSpPr>
          <p:cNvPr id="10" name="Shape 8"/>
          <p:cNvSpPr/>
          <p:nvPr/>
        </p:nvSpPr>
        <p:spPr>
          <a:xfrm>
            <a:off x="566928" y="2587752"/>
            <a:ext cx="384048" cy="384048"/>
          </a:xfrm>
          <a:prstGeom prst="ellipse">
            <a:avLst/>
          </a:prstGeom>
          <a:solidFill>
            <a:srgbClr val="1B2A4A"/>
          </a:solidFill>
          <a:ln/>
        </p:spPr>
      </p:sp>
      <p:sp>
        <p:nvSpPr>
          <p:cNvPr id="11" name="Text 9"/>
          <p:cNvSpPr/>
          <p:nvPr/>
        </p:nvSpPr>
        <p:spPr>
          <a:xfrm>
            <a:off x="566928" y="25877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133856" y="2551176"/>
            <a:ext cx="10424160"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Extracted v_C from contrastive pairs</a:t>
            </a:r>
            <a:endParaRPr lang="en-US" sz="1500" dirty="0"/>
          </a:p>
        </p:txBody>
      </p:sp>
      <p:sp>
        <p:nvSpPr>
          <p:cNvPr id="13" name="Text 11"/>
          <p:cNvSpPr/>
          <p:nvPr/>
        </p:nvSpPr>
        <p:spPr>
          <a:xfrm>
            <a:off x="1133856" y="2825496"/>
            <a:ext cx="6949440" cy="27432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Difference-in-means over 1,428 rows, 100 training framing templates, 9 layers.</a:t>
            </a:r>
            <a:endParaRPr lang="en-US" sz="1200" dirty="0"/>
          </a:p>
        </p:txBody>
      </p:sp>
      <p:sp>
        <p:nvSpPr>
          <p:cNvPr id="14" name="Text 12"/>
          <p:cNvSpPr/>
          <p:nvPr/>
        </p:nvSpPr>
        <p:spPr>
          <a:xfrm>
            <a:off x="8183880" y="2825496"/>
            <a:ext cx="3429000" cy="274320"/>
          </a:xfrm>
          <a:prstGeom prst="rect">
            <a:avLst/>
          </a:prstGeom>
          <a:noFill/>
          <a:ln/>
        </p:spPr>
        <p:txBody>
          <a:bodyPr wrap="square" lIns="0" tIns="0" rIns="0" bIns="0" rtlCol="0" anchor="ctr"/>
          <a:lstStyle/>
          <a:p>
            <a:pPr indent="0" marL="0">
              <a:buNone/>
            </a:pPr>
            <a:r>
              <a:rPr lang="en-US" sz="1100" i="1" dirty="0">
                <a:solidFill>
                  <a:srgbClr val="5A6B7D"/>
                </a:solidFill>
                <a:latin typeface="Calibri" pitchFamily="34" charset="0"/>
                <a:ea typeface="Calibri" pitchFamily="34" charset="-122"/>
                <a:cs typeface="Calibri" pitchFamily="34" charset="-120"/>
              </a:rPr>
              <a:t>Layer picked on train CV only; curve is flat</a:t>
            </a:r>
            <a:endParaRPr lang="en-US" sz="1100" dirty="0"/>
          </a:p>
        </p:txBody>
      </p:sp>
      <p:sp>
        <p:nvSpPr>
          <p:cNvPr id="15" name="Shape 13"/>
          <p:cNvSpPr/>
          <p:nvPr/>
        </p:nvSpPr>
        <p:spPr>
          <a:xfrm>
            <a:off x="566928" y="3310128"/>
            <a:ext cx="11018520" cy="0"/>
          </a:xfrm>
          <a:prstGeom prst="line">
            <a:avLst/>
          </a:prstGeom>
          <a:noFill/>
          <a:ln w="12700">
            <a:solidFill>
              <a:srgbClr val="DDE3EA"/>
            </a:solidFill>
            <a:prstDash val="solid"/>
          </a:ln>
        </p:spPr>
      </p:sp>
      <p:sp>
        <p:nvSpPr>
          <p:cNvPr id="16" name="Shape 14"/>
          <p:cNvSpPr/>
          <p:nvPr/>
        </p:nvSpPr>
        <p:spPr>
          <a:xfrm>
            <a:off x="566928" y="3529584"/>
            <a:ext cx="384048" cy="384048"/>
          </a:xfrm>
          <a:prstGeom prst="ellipse">
            <a:avLst/>
          </a:prstGeom>
          <a:solidFill>
            <a:srgbClr val="1B2A4A"/>
          </a:solidFill>
          <a:ln/>
        </p:spPr>
      </p:sp>
      <p:sp>
        <p:nvSpPr>
          <p:cNvPr id="17" name="Text 15"/>
          <p:cNvSpPr/>
          <p:nvPr/>
        </p:nvSpPr>
        <p:spPr>
          <a:xfrm>
            <a:off x="566928" y="3529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133856" y="3493008"/>
            <a:ext cx="10424160"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Held-out reveal, run once</a:t>
            </a:r>
            <a:endParaRPr lang="en-US" sz="1500" dirty="0"/>
          </a:p>
        </p:txBody>
      </p:sp>
      <p:sp>
        <p:nvSpPr>
          <p:cNvPr id="19" name="Text 17"/>
          <p:cNvSpPr/>
          <p:nvPr/>
        </p:nvSpPr>
        <p:spPr>
          <a:xfrm>
            <a:off x="1133856" y="3767328"/>
            <a:ext cx="6949440" cy="27432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40 framing templates reserved from the start and touched by nothing until this step.</a:t>
            </a:r>
            <a:endParaRPr lang="en-US" sz="1200" dirty="0"/>
          </a:p>
        </p:txBody>
      </p:sp>
      <p:sp>
        <p:nvSpPr>
          <p:cNvPr id="20" name="Text 18"/>
          <p:cNvSpPr/>
          <p:nvPr/>
        </p:nvSpPr>
        <p:spPr>
          <a:xfrm>
            <a:off x="8183880" y="3767328"/>
            <a:ext cx="3429000" cy="274320"/>
          </a:xfrm>
          <a:prstGeom prst="rect">
            <a:avLst/>
          </a:prstGeom>
          <a:noFill/>
          <a:ln/>
        </p:spPr>
        <p:txBody>
          <a:bodyPr wrap="square" lIns="0" tIns="0" rIns="0" bIns="0" rtlCol="0" anchor="ctr"/>
          <a:lstStyle/>
          <a:p>
            <a:pPr indent="0" marL="0">
              <a:buNone/>
            </a:pPr>
            <a:r>
              <a:rPr lang="en-US" sz="1100" i="1" dirty="0">
                <a:solidFill>
                  <a:srgbClr val="5A6B7D"/>
                </a:solidFill>
                <a:latin typeface="Calibri" pitchFamily="34" charset="0"/>
                <a:ea typeface="Calibri" pitchFamily="34" charset="-122"/>
                <a:cs typeface="Calibri" pitchFamily="34" charset="-120"/>
              </a:rPr>
              <a:t>n = 572 · templates held out, not examples</a:t>
            </a:r>
            <a:endParaRPr lang="en-US" sz="1100" dirty="0"/>
          </a:p>
        </p:txBody>
      </p:sp>
      <p:sp>
        <p:nvSpPr>
          <p:cNvPr id="21" name="Shape 19"/>
          <p:cNvSpPr/>
          <p:nvPr/>
        </p:nvSpPr>
        <p:spPr>
          <a:xfrm>
            <a:off x="566928" y="4251960"/>
            <a:ext cx="11018520" cy="0"/>
          </a:xfrm>
          <a:prstGeom prst="line">
            <a:avLst/>
          </a:prstGeom>
          <a:noFill/>
          <a:ln w="12700">
            <a:solidFill>
              <a:srgbClr val="DDE3EA"/>
            </a:solidFill>
            <a:prstDash val="solid"/>
          </a:ln>
        </p:spPr>
      </p:sp>
      <p:sp>
        <p:nvSpPr>
          <p:cNvPr id="22" name="Shape 20"/>
          <p:cNvSpPr/>
          <p:nvPr/>
        </p:nvSpPr>
        <p:spPr>
          <a:xfrm>
            <a:off x="566928" y="4471416"/>
            <a:ext cx="384048" cy="384048"/>
          </a:xfrm>
          <a:prstGeom prst="ellipse">
            <a:avLst/>
          </a:prstGeom>
          <a:solidFill>
            <a:srgbClr val="1B2A4A"/>
          </a:solidFill>
          <a:ln/>
        </p:spPr>
      </p:sp>
      <p:sp>
        <p:nvSpPr>
          <p:cNvPr id="23" name="Text 21"/>
          <p:cNvSpPr/>
          <p:nvPr/>
        </p:nvSpPr>
        <p:spPr>
          <a:xfrm>
            <a:off x="566928" y="44714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1133856" y="4434840"/>
            <a:ext cx="10424160"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Geometry against the rival explanations</a:t>
            </a:r>
            <a:endParaRPr lang="en-US" sz="1500" dirty="0"/>
          </a:p>
        </p:txBody>
      </p:sp>
      <p:sp>
        <p:nvSpPr>
          <p:cNvPr id="25" name="Text 23"/>
          <p:cNvSpPr/>
          <p:nvPr/>
        </p:nvSpPr>
        <p:spPr>
          <a:xfrm>
            <a:off x="1133856" y="4709160"/>
            <a:ext cx="6949440" cy="27432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v_C vs r̂ (Arditi) and vs v_MP, the persona direction (Zhong &amp; Li).</a:t>
            </a:r>
            <a:endParaRPr lang="en-US" sz="1200" dirty="0"/>
          </a:p>
        </p:txBody>
      </p:sp>
      <p:sp>
        <p:nvSpPr>
          <p:cNvPr id="26" name="Text 24"/>
          <p:cNvSpPr/>
          <p:nvPr/>
        </p:nvSpPr>
        <p:spPr>
          <a:xfrm>
            <a:off x="8183880" y="4709160"/>
            <a:ext cx="3429000" cy="274320"/>
          </a:xfrm>
          <a:prstGeom prst="rect">
            <a:avLst/>
          </a:prstGeom>
          <a:noFill/>
          <a:ln/>
        </p:spPr>
        <p:txBody>
          <a:bodyPr wrap="square" lIns="0" tIns="0" rIns="0" bIns="0" rtlCol="0" anchor="ctr"/>
          <a:lstStyle/>
          <a:p>
            <a:pPr indent="0" marL="0">
              <a:buNone/>
            </a:pPr>
            <a:r>
              <a:rPr lang="en-US" sz="1100" i="1" dirty="0">
                <a:solidFill>
                  <a:srgbClr val="5A6B7D"/>
                </a:solidFill>
                <a:latin typeface="Calibri" pitchFamily="34" charset="0"/>
                <a:ea typeface="Calibri" pitchFamily="34" charset="-122"/>
                <a:cs typeface="Calibri" pitchFamily="34" charset="-120"/>
              </a:rPr>
              <a:t>The two persona framings agree at 0.91</a:t>
            </a:r>
            <a:endParaRPr lang="en-US" sz="1100" dirty="0"/>
          </a:p>
        </p:txBody>
      </p:sp>
      <p:sp>
        <p:nvSpPr>
          <p:cNvPr id="27" name="Shape 25"/>
          <p:cNvSpPr/>
          <p:nvPr/>
        </p:nvSpPr>
        <p:spPr>
          <a:xfrm>
            <a:off x="566928" y="5193792"/>
            <a:ext cx="11018520" cy="0"/>
          </a:xfrm>
          <a:prstGeom prst="line">
            <a:avLst/>
          </a:prstGeom>
          <a:noFill/>
          <a:ln w="12700">
            <a:solidFill>
              <a:srgbClr val="DDE3EA"/>
            </a:solidFill>
            <a:prstDash val="solid"/>
          </a:ln>
        </p:spPr>
      </p:sp>
      <p:sp>
        <p:nvSpPr>
          <p:cNvPr id="28" name="Shape 26"/>
          <p:cNvSpPr/>
          <p:nvPr/>
        </p:nvSpPr>
        <p:spPr>
          <a:xfrm>
            <a:off x="566928" y="5413248"/>
            <a:ext cx="384048" cy="384048"/>
          </a:xfrm>
          <a:prstGeom prst="ellipse">
            <a:avLst/>
          </a:prstGeom>
          <a:solidFill>
            <a:srgbClr val="1C7293"/>
          </a:solidFill>
          <a:ln/>
        </p:spPr>
      </p:sp>
      <p:sp>
        <p:nvSpPr>
          <p:cNvPr id="29" name="Text 27"/>
          <p:cNvSpPr/>
          <p:nvPr/>
        </p:nvSpPr>
        <p:spPr>
          <a:xfrm>
            <a:off x="566928" y="54132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8"/>
          <p:cNvSpPr/>
          <p:nvPr/>
        </p:nvSpPr>
        <p:spPr>
          <a:xfrm>
            <a:off x="1133856" y="5376672"/>
            <a:ext cx="10424160"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Causal sweep + three-way judging</a:t>
            </a:r>
            <a:endParaRPr lang="en-US" sz="1500" dirty="0"/>
          </a:p>
        </p:txBody>
      </p:sp>
      <p:sp>
        <p:nvSpPr>
          <p:cNvPr id="31" name="Text 29"/>
          <p:cNvSpPr/>
          <p:nvPr/>
        </p:nvSpPr>
        <p:spPr>
          <a:xfrm>
            <a:off x="1133856" y="5650992"/>
            <a:ext cx="6949440" cy="27432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Steering at L18 and L22, four doses, with random-direction and r̂ baselines.</a:t>
            </a:r>
            <a:endParaRPr lang="en-US" sz="1200" dirty="0"/>
          </a:p>
        </p:txBody>
      </p:sp>
      <p:sp>
        <p:nvSpPr>
          <p:cNvPr id="32" name="Text 30"/>
          <p:cNvSpPr/>
          <p:nvPr/>
        </p:nvSpPr>
        <p:spPr>
          <a:xfrm>
            <a:off x="8183880" y="5650992"/>
            <a:ext cx="3429000" cy="274320"/>
          </a:xfrm>
          <a:prstGeom prst="rect">
            <a:avLst/>
          </a:prstGeom>
          <a:noFill/>
          <a:ln/>
        </p:spPr>
        <p:txBody>
          <a:bodyPr wrap="square" lIns="0" tIns="0" rIns="0" bIns="0" rtlCol="0" anchor="ctr"/>
          <a:lstStyle/>
          <a:p>
            <a:pPr indent="0" marL="0">
              <a:buNone/>
            </a:pPr>
            <a:r>
              <a:rPr lang="en-US" sz="1100" i="1" dirty="0">
                <a:solidFill>
                  <a:srgbClr val="5A6B7D"/>
                </a:solidFill>
                <a:latin typeface="Calibri" pitchFamily="34" charset="0"/>
                <a:ea typeface="Calibri" pitchFamily="34" charset="-122"/>
                <a:cs typeface="Calibri" pitchFamily="34" charset="-120"/>
              </a:rPr>
              <a:t>Labelled refusal / bypass / degenerate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11064240" cy="603504"/>
          </a:xfrm>
          <a:prstGeom prst="rect">
            <a:avLst/>
          </a:prstGeom>
          <a:noFill/>
          <a:ln/>
        </p:spPr>
        <p:txBody>
          <a:bodyPr wrap="square" lIns="0" tIns="0" rIns="0" bIns="0" rtlCol="0" anchor="ctr"/>
          <a:lstStyle/>
          <a:p>
            <a:pPr indent="0" marL="0">
              <a:buNone/>
            </a:pPr>
            <a:r>
              <a:rPr lang="en-US" sz="3400" b="1" dirty="0">
                <a:solidFill>
                  <a:srgbClr val="1F2933"/>
                </a:solidFill>
                <a:latin typeface="Cambria" pitchFamily="34" charset="0"/>
                <a:ea typeface="Cambria" pitchFamily="34" charset="-122"/>
                <a:cs typeface="Cambria" pitchFamily="34" charset="-120"/>
              </a:rPr>
              <a:t>Claim 1 — the direction exists and is its own axis</a:t>
            </a:r>
            <a:endParaRPr lang="en-US" sz="3400" dirty="0"/>
          </a:p>
        </p:txBody>
      </p:sp>
      <p:sp>
        <p:nvSpPr>
          <p:cNvPr id="3" name="Text 1"/>
          <p:cNvSpPr/>
          <p:nvPr/>
        </p:nvSpPr>
        <p:spPr>
          <a:xfrm>
            <a:off x="548640" y="1097280"/>
            <a:ext cx="11064240" cy="292608"/>
          </a:xfrm>
          <a:prstGeom prst="rect">
            <a:avLst/>
          </a:prstGeom>
          <a:noFill/>
          <a:ln/>
        </p:spPr>
        <p:txBody>
          <a:bodyPr wrap="square" lIns="0" tIns="0" rIns="0" bIns="0" rtlCol="0" anchor="ctr"/>
          <a:lstStyle/>
          <a:p>
            <a:pPr indent="0" marL="0">
              <a:buNone/>
            </a:pPr>
            <a:r>
              <a:rPr lang="en-US" sz="1300" dirty="0">
                <a:solidFill>
                  <a:srgbClr val="5A6B7D"/>
                </a:solidFill>
                <a:latin typeface="Calibri" pitchFamily="34" charset="0"/>
                <a:ea typeface="Calibri" pitchFamily="34" charset="-122"/>
                <a:cs typeface="Calibri" pitchFamily="34" charset="-120"/>
              </a:rPr>
              <a:t>Holds. It generalizes to unseen framing templates, and it is not a relabelling of refusal or of persona.</a:t>
            </a:r>
            <a:endParaRPr lang="en-US" sz="1300" dirty="0"/>
          </a:p>
        </p:txBody>
      </p:sp>
      <p:graphicFrame>
        <p:nvGraphicFramePr>
          <p:cNvPr id="4" name="Chart 0" descr=""/>
          <p:cNvGraphicFramePr/>
          <p:nvPr/>
        </p:nvGraphicFramePr>
        <p:xfrm>
          <a:off x="502920" y="1536192"/>
          <a:ext cx="6446520" cy="37947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269480" y="1536192"/>
            <a:ext cx="4389120" cy="1188720"/>
          </a:xfrm>
          <a:prstGeom prst="roundRect">
            <a:avLst>
              <a:gd name="adj" fmla="val 4615"/>
            </a:avLst>
          </a:prstGeom>
          <a:solidFill>
            <a:srgbClr val="F4F7FA"/>
          </a:solidFill>
          <a:ln/>
        </p:spPr>
      </p:sp>
      <p:sp>
        <p:nvSpPr>
          <p:cNvPr id="6" name="Text 3"/>
          <p:cNvSpPr/>
          <p:nvPr/>
        </p:nvSpPr>
        <p:spPr>
          <a:xfrm>
            <a:off x="7479792" y="1645920"/>
            <a:ext cx="3977640" cy="23774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Distinct from the refusal direction</a:t>
            </a:r>
            <a:endParaRPr lang="en-US" sz="1200" dirty="0"/>
          </a:p>
        </p:txBody>
      </p:sp>
      <p:sp>
        <p:nvSpPr>
          <p:cNvPr id="7" name="Text 4"/>
          <p:cNvSpPr/>
          <p:nvPr/>
        </p:nvSpPr>
        <p:spPr>
          <a:xfrm>
            <a:off x="7479792" y="1883664"/>
            <a:ext cx="3977640" cy="27432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cos(v_C, r̂) = +0.085</a:t>
            </a:r>
            <a:endParaRPr lang="en-US" sz="1500" dirty="0"/>
          </a:p>
        </p:txBody>
      </p:sp>
      <p:sp>
        <p:nvSpPr>
          <p:cNvPr id="8" name="Text 5"/>
          <p:cNvSpPr/>
          <p:nvPr/>
        </p:nvSpPr>
        <p:spPr>
          <a:xfrm>
            <a:off x="7479792" y="2176272"/>
            <a:ext cx="3977640" cy="475488"/>
          </a:xfrm>
          <a:prstGeom prst="rect">
            <a:avLst/>
          </a:prstGeom>
          <a:noFill/>
          <a:ln/>
        </p:spPr>
        <p:txBody>
          <a:bodyPr wrap="square" lIns="0" tIns="0" rIns="0" bIns="0" rtlCol="0" anchor="ctr"/>
          <a:lstStyle/>
          <a:p>
            <a:pPr indent="0" marL="0">
              <a:buNone/>
            </a:pPr>
            <a:r>
              <a:rPr lang="en-US" sz="1000" dirty="0">
                <a:solidFill>
                  <a:srgbClr val="5A6B7D"/>
                </a:solidFill>
                <a:latin typeface="Calibri" pitchFamily="34" charset="0"/>
                <a:ea typeface="Calibri" pitchFamily="34" charset="-122"/>
                <a:cs typeface="Calibri" pitchFamily="34" charset="-120"/>
              </a:rPr>
              <a:t>Random-direction band is ±0.032, so this is real but small: distinct with modest overlap, not orthogonal.</a:t>
            </a:r>
            <a:endParaRPr lang="en-US" sz="1000" dirty="0"/>
          </a:p>
        </p:txBody>
      </p:sp>
      <p:sp>
        <p:nvSpPr>
          <p:cNvPr id="9" name="Shape 6"/>
          <p:cNvSpPr/>
          <p:nvPr/>
        </p:nvSpPr>
        <p:spPr>
          <a:xfrm>
            <a:off x="7269480" y="2843784"/>
            <a:ext cx="4389120" cy="1188720"/>
          </a:xfrm>
          <a:prstGeom prst="roundRect">
            <a:avLst>
              <a:gd name="adj" fmla="val 4615"/>
            </a:avLst>
          </a:prstGeom>
          <a:solidFill>
            <a:srgbClr val="F4F7FA"/>
          </a:solidFill>
          <a:ln/>
        </p:spPr>
      </p:sp>
      <p:sp>
        <p:nvSpPr>
          <p:cNvPr id="10" name="Text 7"/>
          <p:cNvSpPr/>
          <p:nvPr/>
        </p:nvSpPr>
        <p:spPr>
          <a:xfrm>
            <a:off x="7479792" y="2953512"/>
            <a:ext cx="3977640" cy="23774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Distinct from the persona direction</a:t>
            </a:r>
            <a:endParaRPr lang="en-US" sz="1200" dirty="0"/>
          </a:p>
        </p:txBody>
      </p:sp>
      <p:sp>
        <p:nvSpPr>
          <p:cNvPr id="11" name="Text 8"/>
          <p:cNvSpPr/>
          <p:nvPr/>
        </p:nvSpPr>
        <p:spPr>
          <a:xfrm>
            <a:off x="7479792" y="3191256"/>
            <a:ext cx="3977640" cy="27432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cos(v_C, v_MP) = +0.24 / +0.29</a:t>
            </a:r>
            <a:endParaRPr lang="en-US" sz="1500" dirty="0"/>
          </a:p>
        </p:txBody>
      </p:sp>
      <p:sp>
        <p:nvSpPr>
          <p:cNvPr id="12" name="Text 9"/>
          <p:cNvSpPr/>
          <p:nvPr/>
        </p:nvSpPr>
        <p:spPr>
          <a:xfrm>
            <a:off x="7479792" y="3483864"/>
            <a:ext cx="3977640" cy="475488"/>
          </a:xfrm>
          <a:prstGeom prst="rect">
            <a:avLst/>
          </a:prstGeom>
          <a:noFill/>
          <a:ln/>
        </p:spPr>
        <p:txBody>
          <a:bodyPr wrap="square" lIns="0" tIns="0" rIns="0" bIns="0" rtlCol="0" anchor="ctr"/>
          <a:lstStyle/>
          <a:p>
            <a:pPr indent="0" marL="0">
              <a:buNone/>
            </a:pPr>
            <a:r>
              <a:rPr lang="en-US" sz="1000" dirty="0">
                <a:solidFill>
                  <a:srgbClr val="5A6B7D"/>
                </a:solidFill>
                <a:latin typeface="Calibri" pitchFamily="34" charset="0"/>
                <a:ea typeface="Calibri" pitchFamily="34" charset="-122"/>
                <a:cs typeface="Calibri" pitchFamily="34" charset="-120"/>
              </a:rPr>
              <a:t>"The model is play-acting" is the most plausible deflationary story. It does not account for v_C.</a:t>
            </a:r>
            <a:endParaRPr lang="en-US" sz="1000" dirty="0"/>
          </a:p>
        </p:txBody>
      </p:sp>
      <p:sp>
        <p:nvSpPr>
          <p:cNvPr id="13" name="Shape 10"/>
          <p:cNvSpPr/>
          <p:nvPr/>
        </p:nvSpPr>
        <p:spPr>
          <a:xfrm>
            <a:off x="7269480" y="4151376"/>
            <a:ext cx="4389120" cy="1188720"/>
          </a:xfrm>
          <a:prstGeom prst="roundRect">
            <a:avLst>
              <a:gd name="adj" fmla="val 4615"/>
            </a:avLst>
          </a:prstGeom>
          <a:solidFill>
            <a:srgbClr val="F4F7FA"/>
          </a:solidFill>
          <a:ln/>
        </p:spPr>
      </p:sp>
      <p:sp>
        <p:nvSpPr>
          <p:cNvPr id="14" name="Text 11"/>
          <p:cNvSpPr/>
          <p:nvPr/>
        </p:nvSpPr>
        <p:spPr>
          <a:xfrm>
            <a:off x="7479792" y="4261104"/>
            <a:ext cx="3977640" cy="23774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The information is not in r̂</a:t>
            </a:r>
            <a:endParaRPr lang="en-US" sz="1200" dirty="0"/>
          </a:p>
        </p:txBody>
      </p:sp>
      <p:sp>
        <p:nvSpPr>
          <p:cNvPr id="15" name="Text 12"/>
          <p:cNvSpPr/>
          <p:nvPr/>
        </p:nvSpPr>
        <p:spPr>
          <a:xfrm>
            <a:off x="7479792" y="4498848"/>
            <a:ext cx="3977640" cy="27432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removing it costs −0.001 AUC</a:t>
            </a:r>
            <a:endParaRPr lang="en-US" sz="1500" dirty="0"/>
          </a:p>
        </p:txBody>
      </p:sp>
      <p:sp>
        <p:nvSpPr>
          <p:cNvPr id="16" name="Text 13"/>
          <p:cNvSpPr/>
          <p:nvPr/>
        </p:nvSpPr>
        <p:spPr>
          <a:xfrm>
            <a:off x="7479792" y="4791456"/>
            <a:ext cx="3977640" cy="475488"/>
          </a:xfrm>
          <a:prstGeom prst="rect">
            <a:avLst/>
          </a:prstGeom>
          <a:noFill/>
          <a:ln/>
        </p:spPr>
        <p:txBody>
          <a:bodyPr wrap="square" lIns="0" tIns="0" rIns="0" bIns="0" rtlCol="0" anchor="ctr"/>
          <a:lstStyle/>
          <a:p>
            <a:pPr indent="0" marL="0">
              <a:buNone/>
            </a:pPr>
            <a:r>
              <a:rPr lang="en-US" sz="1000" dirty="0">
                <a:solidFill>
                  <a:srgbClr val="5A6B7D"/>
                </a:solidFill>
                <a:latin typeface="Calibri" pitchFamily="34" charset="0"/>
                <a:ea typeface="Calibri" pitchFamily="34" charset="-122"/>
                <a:cs typeface="Calibri" pitchFamily="34" charset="-120"/>
              </a:rPr>
              <a:t>Orthogonalizing v_C against r̂ leaves held-out readout untouched. Settles the readout question.</a:t>
            </a:r>
            <a:endParaRPr lang="en-US" sz="1000" dirty="0"/>
          </a:p>
        </p:txBody>
      </p:sp>
      <p:sp>
        <p:nvSpPr>
          <p:cNvPr id="17" name="Text 14"/>
          <p:cNvSpPr/>
          <p:nvPr/>
        </p:nvSpPr>
        <p:spPr>
          <a:xfrm>
            <a:off x="502920" y="5440680"/>
            <a:ext cx="11155680" cy="502920"/>
          </a:xfrm>
          <a:prstGeom prst="rect">
            <a:avLst/>
          </a:prstGeom>
          <a:noFill/>
          <a:ln/>
        </p:spPr>
        <p:txBody>
          <a:bodyPr wrap="square" lIns="0" tIns="0" rIns="0" bIns="0" rtlCol="0" anchor="ctr"/>
          <a:lstStyle/>
          <a:p>
            <a:pPr indent="0" marL="0">
              <a:buNone/>
            </a:pPr>
            <a:r>
              <a:rPr lang="en-US" sz="1200" i="1" dirty="0">
                <a:solidFill>
                  <a:srgbClr val="C77D3A"/>
                </a:solidFill>
                <a:latin typeface="Calibri" pitchFamily="34" charset="0"/>
                <a:ea typeface="Calibri" pitchFamily="34" charset="-122"/>
                <a:cs typeface="Calibri" pitchFamily="34" charset="-120"/>
              </a:rPr>
              <a:t>Not surface vocabulary: the unfitted v_C curve RISES with depth (0.855 at L8 → 0.94 at L24). But state the margin honestly — the best surface baseline reached 0.847, not chance.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11064240" cy="603504"/>
          </a:xfrm>
          <a:prstGeom prst="rect">
            <a:avLst/>
          </a:prstGeom>
          <a:noFill/>
          <a:ln/>
        </p:spPr>
        <p:txBody>
          <a:bodyPr wrap="square" lIns="0" tIns="0" rIns="0" bIns="0" rtlCol="0" anchor="ctr"/>
          <a:lstStyle/>
          <a:p>
            <a:pPr indent="0" marL="0">
              <a:buNone/>
            </a:pPr>
            <a:r>
              <a:rPr lang="en-US" sz="3400" b="1" dirty="0">
                <a:solidFill>
                  <a:srgbClr val="1F2933"/>
                </a:solidFill>
                <a:latin typeface="Cambria" pitchFamily="34" charset="0"/>
                <a:ea typeface="Cambria" pitchFamily="34" charset="-122"/>
                <a:cs typeface="Cambria" pitchFamily="34" charset="-120"/>
              </a:rPr>
              <a:t>Claim 2 — steering restores refusal, at one layer</a:t>
            </a:r>
            <a:endParaRPr lang="en-US" sz="3400" dirty="0"/>
          </a:p>
        </p:txBody>
      </p:sp>
      <p:sp>
        <p:nvSpPr>
          <p:cNvPr id="3" name="Text 1"/>
          <p:cNvSpPr/>
          <p:nvPr/>
        </p:nvSpPr>
        <p:spPr>
          <a:xfrm>
            <a:off x="548640" y="1097280"/>
            <a:ext cx="11064240" cy="292608"/>
          </a:xfrm>
          <a:prstGeom prst="rect">
            <a:avLst/>
          </a:prstGeom>
          <a:noFill/>
          <a:ln/>
        </p:spPr>
        <p:txBody>
          <a:bodyPr wrap="square" lIns="0" tIns="0" rIns="0" bIns="0" rtlCol="0" anchor="ctr"/>
          <a:lstStyle/>
          <a:p>
            <a:pPr indent="0" marL="0">
              <a:buNone/>
            </a:pPr>
            <a:r>
              <a:rPr lang="en-US" sz="1300" dirty="0">
                <a:solidFill>
                  <a:srgbClr val="5A6B7D"/>
                </a:solidFill>
                <a:latin typeface="Calibri" pitchFamily="34" charset="0"/>
                <a:ea typeface="Calibri" pitchFamily="34" charset="-122"/>
                <a:cs typeface="Calibri" pitchFamily="34" charset="-120"/>
              </a:rPr>
              <a:t>Partly. Change in refusal rate vs baseline, each layer at its own 0.5 × ‖h‖ dose (baseline refusal 0.69).</a:t>
            </a:r>
            <a:endParaRPr lang="en-US" sz="1300" dirty="0"/>
          </a:p>
        </p:txBody>
      </p:sp>
      <p:graphicFrame>
        <p:nvGraphicFramePr>
          <p:cNvPr id="4" name="Chart 0" descr=""/>
          <p:cNvGraphicFramePr/>
          <p:nvPr/>
        </p:nvGraphicFramePr>
        <p:xfrm>
          <a:off x="502920" y="1691640"/>
          <a:ext cx="6949440" cy="35204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746504"/>
            <a:ext cx="155448" cy="155448"/>
          </a:xfrm>
          <a:prstGeom prst="ellipse">
            <a:avLst/>
          </a:prstGeom>
          <a:solidFill>
            <a:srgbClr val="1C7293"/>
          </a:solidFill>
          <a:ln/>
        </p:spPr>
      </p:sp>
      <p:sp>
        <p:nvSpPr>
          <p:cNvPr id="6" name="Text 3"/>
          <p:cNvSpPr/>
          <p:nvPr/>
        </p:nvSpPr>
        <p:spPr>
          <a:xfrm>
            <a:off x="8092440" y="1691640"/>
            <a:ext cx="3611880" cy="256032"/>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The null is clean at L18</a:t>
            </a:r>
            <a:endParaRPr lang="en-US" sz="1250" dirty="0"/>
          </a:p>
        </p:txBody>
      </p:sp>
      <p:sp>
        <p:nvSpPr>
          <p:cNvPr id="7" name="Text 4"/>
          <p:cNvSpPr/>
          <p:nvPr/>
        </p:nvSpPr>
        <p:spPr>
          <a:xfrm>
            <a:off x="8092440" y="1956816"/>
            <a:ext cx="3611880" cy="603504"/>
          </a:xfrm>
          <a:prstGeom prst="rect">
            <a:avLst/>
          </a:prstGeom>
          <a:noFill/>
          <a:ln/>
        </p:spPr>
        <p:txBody>
          <a:bodyPr wrap="square" lIns="0" tIns="0" rIns="0" bIns="0" rtlCol="0" anchor="ctr"/>
          <a:lstStyle/>
          <a:p>
            <a:pPr indent="0" marL="0">
              <a:buNone/>
            </a:pPr>
            <a:r>
              <a:rPr lang="en-US" sz="1050" dirty="0">
                <a:solidFill>
                  <a:srgbClr val="5A6B7D"/>
                </a:solidFill>
                <a:latin typeface="Calibri" pitchFamily="34" charset="0"/>
                <a:ea typeface="Calibri" pitchFamily="34" charset="-122"/>
                <a:cs typeface="Calibri" pitchFamily="34" charset="-120"/>
              </a:rPr>
              <a:t>A random direction of the same norm moves refusal +0.00, and v_C recovers ~80% of what steering r̂ itself achieves.</a:t>
            </a:r>
            <a:endParaRPr lang="en-US" sz="1050" dirty="0"/>
          </a:p>
        </p:txBody>
      </p:sp>
      <p:sp>
        <p:nvSpPr>
          <p:cNvPr id="8" name="Shape 5"/>
          <p:cNvSpPr/>
          <p:nvPr/>
        </p:nvSpPr>
        <p:spPr>
          <a:xfrm>
            <a:off x="7772400" y="2688336"/>
            <a:ext cx="155448" cy="155448"/>
          </a:xfrm>
          <a:prstGeom prst="ellipse">
            <a:avLst/>
          </a:prstGeom>
          <a:solidFill>
            <a:srgbClr val="C77D3A"/>
          </a:solidFill>
          <a:ln/>
        </p:spPr>
      </p:sp>
      <p:sp>
        <p:nvSpPr>
          <p:cNvPr id="9" name="Text 6"/>
          <p:cNvSpPr/>
          <p:nvPr/>
        </p:nvSpPr>
        <p:spPr>
          <a:xfrm>
            <a:off x="8092440" y="2633472"/>
            <a:ext cx="3611880" cy="256032"/>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The effect is one-sided</a:t>
            </a:r>
            <a:endParaRPr lang="en-US" sz="1250" dirty="0"/>
          </a:p>
        </p:txBody>
      </p:sp>
      <p:sp>
        <p:nvSpPr>
          <p:cNvPr id="10" name="Text 7"/>
          <p:cNvSpPr/>
          <p:nvPr/>
        </p:nvSpPr>
        <p:spPr>
          <a:xfrm>
            <a:off x="8092440" y="2898648"/>
            <a:ext cx="3611880" cy="603504"/>
          </a:xfrm>
          <a:prstGeom prst="rect">
            <a:avLst/>
          </a:prstGeom>
          <a:noFill/>
          <a:ln/>
        </p:spPr>
        <p:txBody>
          <a:bodyPr wrap="square" lIns="0" tIns="0" rIns="0" bIns="0" rtlCol="0" anchor="ctr"/>
          <a:lstStyle/>
          <a:p>
            <a:pPr indent="0" marL="0">
              <a:buNone/>
            </a:pPr>
            <a:r>
              <a:rPr lang="en-US" sz="1050" dirty="0">
                <a:solidFill>
                  <a:srgbClr val="5A6B7D"/>
                </a:solidFill>
                <a:latin typeface="Calibri" pitchFamily="34" charset="0"/>
                <a:ea typeface="Calibri" pitchFamily="34" charset="-122"/>
                <a:cs typeface="Calibri" pitchFamily="34" charset="-120"/>
              </a:rPr>
              <a:t>Pushing toward "hypothetical" moves refusal −0.01. Either v_C does not control refusal, or fiction prompts already sit at the extreme. Untested.</a:t>
            </a:r>
            <a:endParaRPr lang="en-US" sz="1050" dirty="0"/>
          </a:p>
        </p:txBody>
      </p:sp>
      <p:sp>
        <p:nvSpPr>
          <p:cNvPr id="11" name="Shape 8"/>
          <p:cNvSpPr/>
          <p:nvPr/>
        </p:nvSpPr>
        <p:spPr>
          <a:xfrm>
            <a:off x="7772400" y="3630168"/>
            <a:ext cx="155448" cy="155448"/>
          </a:xfrm>
          <a:prstGeom prst="ellipse">
            <a:avLst/>
          </a:prstGeom>
          <a:solidFill>
            <a:srgbClr val="C77D3A"/>
          </a:solidFill>
          <a:ln/>
        </p:spPr>
      </p:sp>
      <p:sp>
        <p:nvSpPr>
          <p:cNvPr id="12" name="Text 9"/>
          <p:cNvSpPr/>
          <p:nvPr/>
        </p:nvSpPr>
        <p:spPr>
          <a:xfrm>
            <a:off x="8092440" y="3575304"/>
            <a:ext cx="3611880" cy="256032"/>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It largely vanishes at L22</a:t>
            </a:r>
            <a:endParaRPr lang="en-US" sz="1250" dirty="0"/>
          </a:p>
        </p:txBody>
      </p:sp>
      <p:sp>
        <p:nvSpPr>
          <p:cNvPr id="13" name="Text 10"/>
          <p:cNvSpPr/>
          <p:nvPr/>
        </p:nvSpPr>
        <p:spPr>
          <a:xfrm>
            <a:off x="8092440" y="3840480"/>
            <a:ext cx="3611880" cy="603504"/>
          </a:xfrm>
          <a:prstGeom prst="rect">
            <a:avLst/>
          </a:prstGeom>
          <a:noFill/>
          <a:ln/>
        </p:spPr>
        <p:txBody>
          <a:bodyPr wrap="square" lIns="0" tIns="0" rIns="0" bIns="0" rtlCol="0" anchor="ctr"/>
          <a:lstStyle/>
          <a:p>
            <a:pPr indent="0" marL="0">
              <a:buNone/>
            </a:pPr>
            <a:r>
              <a:rPr lang="en-US" sz="1050" dirty="0">
                <a:solidFill>
                  <a:srgbClr val="5A6B7D"/>
                </a:solidFill>
                <a:latin typeface="Calibri" pitchFamily="34" charset="0"/>
                <a:ea typeface="Calibri" pitchFamily="34" charset="-122"/>
                <a:cs typeface="Calibri" pitchFamily="34" charset="-120"/>
              </a:rPr>
              <a:t>v_C drops to +0.08 while r̂ keeps +0.23 — and L22 is where v_C reads out BEST (AUC 0.942). Readout and causal power dissociate.</a:t>
            </a:r>
            <a:endParaRPr lang="en-US" sz="1050" dirty="0"/>
          </a:p>
        </p:txBody>
      </p:sp>
      <p:sp>
        <p:nvSpPr>
          <p:cNvPr id="14" name="Shape 11"/>
          <p:cNvSpPr/>
          <p:nvPr/>
        </p:nvSpPr>
        <p:spPr>
          <a:xfrm>
            <a:off x="7772400" y="4572000"/>
            <a:ext cx="155448" cy="155448"/>
          </a:xfrm>
          <a:prstGeom prst="ellipse">
            <a:avLst/>
          </a:prstGeom>
          <a:solidFill>
            <a:srgbClr val="A63A3A"/>
          </a:solidFill>
          <a:ln/>
        </p:spPr>
      </p:sp>
      <p:sp>
        <p:nvSpPr>
          <p:cNvPr id="15" name="Text 12"/>
          <p:cNvSpPr/>
          <p:nvPr/>
        </p:nvSpPr>
        <p:spPr>
          <a:xfrm>
            <a:off x="8092440" y="4517136"/>
            <a:ext cx="3611880" cy="256032"/>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The over-refusal control is void</a:t>
            </a:r>
            <a:endParaRPr lang="en-US" sz="1250" dirty="0"/>
          </a:p>
        </p:txBody>
      </p:sp>
      <p:sp>
        <p:nvSpPr>
          <p:cNvPr id="16" name="Text 13"/>
          <p:cNvSpPr/>
          <p:nvPr/>
        </p:nvSpPr>
        <p:spPr>
          <a:xfrm>
            <a:off x="8092440" y="4782312"/>
            <a:ext cx="3611880" cy="603504"/>
          </a:xfrm>
          <a:prstGeom prst="rect">
            <a:avLst/>
          </a:prstGeom>
          <a:noFill/>
          <a:ln/>
        </p:spPr>
        <p:txBody>
          <a:bodyPr wrap="square" lIns="0" tIns="0" rIns="0" bIns="0" rtlCol="0" anchor="ctr"/>
          <a:lstStyle/>
          <a:p>
            <a:pPr indent="0" marL="0">
              <a:buNone/>
            </a:pPr>
            <a:r>
              <a:rPr lang="en-US" sz="1050" dirty="0">
                <a:solidFill>
                  <a:srgbClr val="5A6B7D"/>
                </a:solidFill>
                <a:latin typeface="Calibri" pitchFamily="34" charset="0"/>
                <a:ea typeface="Calibri" pitchFamily="34" charset="-122"/>
                <a:cs typeface="Calibri" pitchFamily="34" charset="-120"/>
              </a:rPr>
              <a:t>A judge-rubric bug scored helpful answers to safe prompts as refusals. "The guard holds" is withdrawn; re-judging is queued.</a:t>
            </a:r>
            <a:endParaRPr lang="en-US" sz="1050" dirty="0"/>
          </a:p>
        </p:txBody>
      </p:sp>
      <p:sp>
        <p:nvSpPr>
          <p:cNvPr id="17" name="Text 14"/>
          <p:cNvSpPr/>
          <p:nvPr/>
        </p:nvSpPr>
        <p:spPr>
          <a:xfrm>
            <a:off x="502920" y="5532120"/>
            <a:ext cx="11155680" cy="457200"/>
          </a:xfrm>
          <a:prstGeom prst="rect">
            <a:avLst/>
          </a:prstGeom>
          <a:noFill/>
          <a:ln/>
        </p:spPr>
        <p:txBody>
          <a:bodyPr wrap="square" lIns="0" tIns="0" rIns="0" bIns="0" rtlCol="0" anchor="ctr"/>
          <a:lstStyle/>
          <a:p>
            <a:pPr indent="0" marL="0">
              <a:buNone/>
            </a:pPr>
            <a:r>
              <a:rPr lang="en-US" sz="1200" i="1" dirty="0">
                <a:solidFill>
                  <a:srgbClr val="5A6B7D"/>
                </a:solidFill>
                <a:latin typeface="Calibri" pitchFamily="34" charset="0"/>
                <a:ea typeface="Calibri" pitchFamily="34" charset="-122"/>
                <a:cs typeface="Calibri" pitchFamily="34" charset="-120"/>
              </a:rPr>
              <a:t>Fluency collapses at 1.0 × ‖h‖ — every dose above the headline produces gibberish, which a two-way refusal metric would have scored as a successful defense.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we still don't know</a:t>
            </a:r>
            <a:endParaRPr lang="en-US" sz="3400" dirty="0"/>
          </a:p>
        </p:txBody>
      </p:sp>
      <p:sp>
        <p:nvSpPr>
          <p:cNvPr id="3" name="Text 1"/>
          <p:cNvSpPr/>
          <p:nvPr/>
        </p:nvSpPr>
        <p:spPr>
          <a:xfrm>
            <a:off x="548640" y="1024128"/>
            <a:ext cx="11064240" cy="27432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Every outcome here is publishable. A clean negative result is a result — we do not optimize toward a positive one.</a:t>
            </a:r>
            <a:endParaRPr lang="en-US" sz="1200" dirty="0"/>
          </a:p>
        </p:txBody>
      </p:sp>
      <p:sp>
        <p:nvSpPr>
          <p:cNvPr id="4" name="Text 2"/>
          <p:cNvSpPr/>
          <p:nvPr/>
        </p:nvSpPr>
        <p:spPr>
          <a:xfrm>
            <a:off x="548640" y="1572768"/>
            <a:ext cx="6858000" cy="256032"/>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Is v_C special, or would any direction do?</a:t>
            </a:r>
            <a:endParaRPr lang="en-US" sz="1400" dirty="0"/>
          </a:p>
        </p:txBody>
      </p:sp>
      <p:sp>
        <p:nvSpPr>
          <p:cNvPr id="5" name="Text 3"/>
          <p:cNvSpPr/>
          <p:nvPr/>
        </p:nvSpPr>
        <p:spPr>
          <a:xfrm>
            <a:off x="548640" y="1847088"/>
            <a:ext cx="6858000" cy="685800"/>
          </a:xfrm>
          <a:prstGeom prst="rect">
            <a:avLst/>
          </a:prstGeom>
          <a:noFill/>
          <a:ln/>
        </p:spPr>
        <p:txBody>
          <a:bodyPr wrap="square" lIns="0" tIns="0" rIns="0" bIns="0" rtlCol="0" anchor="ctr"/>
          <a:lstStyle/>
          <a:p>
            <a:pPr indent="0" marL="0">
              <a:buNone/>
            </a:pPr>
            <a:r>
              <a:rPr lang="en-US" sz="1050" dirty="0">
                <a:solidFill>
                  <a:srgbClr val="AEBCD0"/>
                </a:solidFill>
                <a:latin typeface="Calibri" pitchFamily="34" charset="0"/>
                <a:ea typeface="Calibri" pitchFamily="34" charset="-122"/>
                <a:cs typeface="Calibri" pitchFamily="34" charset="-120"/>
              </a:rPr>
              <a:t>Random Gaussians are near-orthogonal to everything in 3,584 dimensions, so "random does nothing" does not rule out "any extracted direction at this dose restores refusal". The persona direction is already extracted and has never been steered.</a:t>
            </a:r>
            <a:endParaRPr lang="en-US" sz="1050" dirty="0"/>
          </a:p>
        </p:txBody>
      </p:sp>
      <p:sp>
        <p:nvSpPr>
          <p:cNvPr id="6" name="Text 4"/>
          <p:cNvSpPr/>
          <p:nvPr/>
        </p:nvSpPr>
        <p:spPr>
          <a:xfrm>
            <a:off x="548640" y="2670048"/>
            <a:ext cx="6858000" cy="256032"/>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Why is the effect one-sided?</a:t>
            </a:r>
            <a:endParaRPr lang="en-US" sz="1400" dirty="0"/>
          </a:p>
        </p:txBody>
      </p:sp>
      <p:sp>
        <p:nvSpPr>
          <p:cNvPr id="7" name="Text 5"/>
          <p:cNvSpPr/>
          <p:nvPr/>
        </p:nvSpPr>
        <p:spPr>
          <a:xfrm>
            <a:off x="548640" y="2944368"/>
            <a:ext cx="6858000" cy="685800"/>
          </a:xfrm>
          <a:prstGeom prst="rect">
            <a:avLst/>
          </a:prstGeom>
          <a:noFill/>
          <a:ln/>
        </p:spPr>
        <p:txBody>
          <a:bodyPr wrap="square" lIns="0" tIns="0" rIns="0" bIns="0" rtlCol="0" anchor="ctr"/>
          <a:lstStyle/>
          <a:p>
            <a:pPr indent="0" marL="0">
              <a:buNone/>
            </a:pPr>
            <a:r>
              <a:rPr lang="en-US" sz="1050" dirty="0">
                <a:solidFill>
                  <a:srgbClr val="AEBCD0"/>
                </a:solidFill>
                <a:latin typeface="Calibri" pitchFamily="34" charset="0"/>
                <a:ea typeface="Calibri" pitchFamily="34" charset="-122"/>
                <a:cs typeface="Calibri" pitchFamily="34" charset="-120"/>
              </a:rPr>
              <a:t>Testable: project the attack prompts onto v_C. If they already sit at the hypothetical extreme, one-sidedness is expected rather than damning.</a:t>
            </a:r>
            <a:endParaRPr lang="en-US" sz="1050" dirty="0"/>
          </a:p>
        </p:txBody>
      </p:sp>
      <p:sp>
        <p:nvSpPr>
          <p:cNvPr id="8" name="Text 6"/>
          <p:cNvSpPr/>
          <p:nvPr/>
        </p:nvSpPr>
        <p:spPr>
          <a:xfrm>
            <a:off x="548640" y="3767328"/>
            <a:ext cx="6858000" cy="256032"/>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Does steering cost benign users?</a:t>
            </a:r>
            <a:endParaRPr lang="en-US" sz="1400" dirty="0"/>
          </a:p>
        </p:txBody>
      </p:sp>
      <p:sp>
        <p:nvSpPr>
          <p:cNvPr id="9" name="Text 7"/>
          <p:cNvSpPr/>
          <p:nvPr/>
        </p:nvSpPr>
        <p:spPr>
          <a:xfrm>
            <a:off x="548640" y="4041648"/>
            <a:ext cx="6858000" cy="685800"/>
          </a:xfrm>
          <a:prstGeom prst="rect">
            <a:avLst/>
          </a:prstGeom>
          <a:noFill/>
          <a:ln/>
        </p:spPr>
        <p:txBody>
          <a:bodyPr wrap="square" lIns="0" tIns="0" rIns="0" bIns="0" rtlCol="0" anchor="ctr"/>
          <a:lstStyle/>
          <a:p>
            <a:pPr indent="0" marL="0">
              <a:buNone/>
            </a:pPr>
            <a:r>
              <a:rPr lang="en-US" sz="1050" dirty="0">
                <a:solidFill>
                  <a:srgbClr val="AEBCD0"/>
                </a:solidFill>
                <a:latin typeface="Calibri" pitchFamily="34" charset="0"/>
                <a:ea typeface="Calibri" pitchFamily="34" charset="-122"/>
                <a:cs typeface="Calibri" pitchFamily="34" charset="-120"/>
              </a:rPr>
              <a:t>Unmeasured until the over-refusal control is re-judged. The broken metric still showed 20 of 250 safe prompts degrading under negative steering.</a:t>
            </a:r>
            <a:endParaRPr lang="en-US" sz="1050" dirty="0"/>
          </a:p>
        </p:txBody>
      </p:sp>
      <p:sp>
        <p:nvSpPr>
          <p:cNvPr id="10" name="Text 8"/>
          <p:cNvSpPr/>
          <p:nvPr/>
        </p:nvSpPr>
        <p:spPr>
          <a:xfrm>
            <a:off x="548640" y="4864608"/>
            <a:ext cx="6858000" cy="256032"/>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Is the judge trustworthy?</a:t>
            </a:r>
            <a:endParaRPr lang="en-US" sz="1400" dirty="0"/>
          </a:p>
        </p:txBody>
      </p:sp>
      <p:sp>
        <p:nvSpPr>
          <p:cNvPr id="11" name="Text 9"/>
          <p:cNvSpPr/>
          <p:nvPr/>
        </p:nvSpPr>
        <p:spPr>
          <a:xfrm>
            <a:off x="548640" y="5138928"/>
            <a:ext cx="6858000" cy="685800"/>
          </a:xfrm>
          <a:prstGeom prst="rect">
            <a:avLst/>
          </a:prstGeom>
          <a:noFill/>
          <a:ln/>
        </p:spPr>
        <p:txBody>
          <a:bodyPr wrap="square" lIns="0" tIns="0" rIns="0" bIns="0" rtlCol="0" anchor="ctr"/>
          <a:lstStyle/>
          <a:p>
            <a:pPr indent="0" marL="0">
              <a:buNone/>
            </a:pPr>
            <a:r>
              <a:rPr lang="en-US" sz="1050" dirty="0">
                <a:solidFill>
                  <a:srgbClr val="AEBCD0"/>
                </a:solidFill>
                <a:latin typeface="Calibri" pitchFamily="34" charset="0"/>
                <a:ea typeface="Calibri" pitchFamily="34" charset="-122"/>
                <a:cs typeface="Calibri" pitchFamily="34" charset="-120"/>
              </a:rPr>
              <a:t>It is the measuring instrument for every causal claim and has had no human agreement check. Two of its bugs have already been found by cross-checking its own fields.</a:t>
            </a:r>
            <a:endParaRPr lang="en-US" sz="1050" dirty="0"/>
          </a:p>
        </p:txBody>
      </p:sp>
      <p:sp>
        <p:nvSpPr>
          <p:cNvPr id="12" name="Shape 10"/>
          <p:cNvSpPr/>
          <p:nvPr/>
        </p:nvSpPr>
        <p:spPr>
          <a:xfrm>
            <a:off x="7726680" y="1572768"/>
            <a:ext cx="3913632" cy="3977640"/>
          </a:xfrm>
          <a:prstGeom prst="roundRect">
            <a:avLst>
              <a:gd name="adj" fmla="val 1869"/>
            </a:avLst>
          </a:prstGeom>
          <a:solidFill>
            <a:srgbClr val="2C3E60"/>
          </a:solidFill>
          <a:ln/>
        </p:spPr>
      </p:sp>
      <p:sp>
        <p:nvSpPr>
          <p:cNvPr id="13" name="Text 11"/>
          <p:cNvSpPr/>
          <p:nvPr/>
        </p:nvSpPr>
        <p:spPr>
          <a:xfrm>
            <a:off x="8001000" y="1783080"/>
            <a:ext cx="3383280" cy="256032"/>
          </a:xfrm>
          <a:prstGeom prst="rect">
            <a:avLst/>
          </a:prstGeom>
          <a:noFill/>
          <a:ln/>
        </p:spPr>
        <p:txBody>
          <a:bodyPr wrap="square" lIns="0" tIns="0" rIns="0" bIns="0" rtlCol="0" anchor="ctr"/>
          <a:lstStyle/>
          <a:p>
            <a:pPr indent="0" marL="0">
              <a:buNone/>
            </a:pPr>
            <a:r>
              <a:rPr lang="en-US" sz="1100" b="1" spc="150" kern="0" dirty="0">
                <a:solidFill>
                  <a:srgbClr val="6FB3CC"/>
                </a:solidFill>
                <a:latin typeface="Calibri" pitchFamily="34" charset="0"/>
                <a:ea typeface="Calibri" pitchFamily="34" charset="-122"/>
                <a:cs typeface="Calibri" pitchFamily="34" charset="-120"/>
              </a:rPr>
              <a:t>NEXT, IN ORDER</a:t>
            </a:r>
            <a:endParaRPr lang="en-US" sz="1100" dirty="0"/>
          </a:p>
        </p:txBody>
      </p:sp>
      <p:sp>
        <p:nvSpPr>
          <p:cNvPr id="14" name="Shape 12"/>
          <p:cNvSpPr/>
          <p:nvPr/>
        </p:nvSpPr>
        <p:spPr>
          <a:xfrm>
            <a:off x="8001000" y="2212848"/>
            <a:ext cx="384048" cy="384048"/>
          </a:xfrm>
          <a:prstGeom prst="ellipse">
            <a:avLst/>
          </a:prstGeom>
          <a:solidFill>
            <a:srgbClr val="1C7293"/>
          </a:solidFill>
          <a:ln/>
        </p:spPr>
      </p:sp>
      <p:sp>
        <p:nvSpPr>
          <p:cNvPr id="15" name="Text 13"/>
          <p:cNvSpPr/>
          <p:nvPr/>
        </p:nvSpPr>
        <p:spPr>
          <a:xfrm>
            <a:off x="8001000" y="22128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6" name="Text 14"/>
          <p:cNvSpPr/>
          <p:nvPr/>
        </p:nvSpPr>
        <p:spPr>
          <a:xfrm>
            <a:off x="8503920" y="2194560"/>
            <a:ext cx="292608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Re-judge XSTest</a:t>
            </a:r>
            <a:endParaRPr lang="en-US" sz="1200" dirty="0"/>
          </a:p>
        </p:txBody>
      </p:sp>
      <p:sp>
        <p:nvSpPr>
          <p:cNvPr id="17" name="Text 15"/>
          <p:cNvSpPr/>
          <p:nvPr/>
        </p:nvSpPr>
        <p:spPr>
          <a:xfrm>
            <a:off x="8503920" y="2432304"/>
            <a:ext cx="2926080" cy="219456"/>
          </a:xfrm>
          <a:prstGeom prst="rect">
            <a:avLst/>
          </a:prstGeom>
          <a:noFill/>
          <a:ln/>
        </p:spPr>
        <p:txBody>
          <a:bodyPr wrap="square" lIns="0" tIns="0" rIns="0" bIns="0" rtlCol="0" anchor="ctr"/>
          <a:lstStyle/>
          <a:p>
            <a:pPr indent="0" marL="0">
              <a:buNone/>
            </a:pPr>
            <a:r>
              <a:rPr lang="en-US" sz="950" dirty="0">
                <a:solidFill>
                  <a:srgbClr val="AEBCD0"/>
                </a:solidFill>
                <a:latin typeface="Calibri" pitchFamily="34" charset="0"/>
                <a:ea typeface="Calibri" pitchFamily="34" charset="-122"/>
                <a:cs typeface="Calibri" pitchFamily="34" charset="-120"/>
              </a:rPr>
              <a:t>benign rubric · no GPU</a:t>
            </a:r>
            <a:endParaRPr lang="en-US" sz="950" dirty="0"/>
          </a:p>
        </p:txBody>
      </p:sp>
      <p:sp>
        <p:nvSpPr>
          <p:cNvPr id="18" name="Shape 16"/>
          <p:cNvSpPr/>
          <p:nvPr/>
        </p:nvSpPr>
        <p:spPr>
          <a:xfrm>
            <a:off x="8001000" y="2871216"/>
            <a:ext cx="384048" cy="384048"/>
          </a:xfrm>
          <a:prstGeom prst="ellipse">
            <a:avLst/>
          </a:prstGeom>
          <a:solidFill>
            <a:srgbClr val="1C7293"/>
          </a:solidFill>
          <a:ln/>
        </p:spPr>
      </p:sp>
      <p:sp>
        <p:nvSpPr>
          <p:cNvPr id="19" name="Text 17"/>
          <p:cNvSpPr/>
          <p:nvPr/>
        </p:nvSpPr>
        <p:spPr>
          <a:xfrm>
            <a:off x="8001000" y="28712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0" name="Text 18"/>
          <p:cNvSpPr/>
          <p:nvPr/>
        </p:nvSpPr>
        <p:spPr>
          <a:xfrm>
            <a:off x="8503920" y="2852928"/>
            <a:ext cx="292608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Steer v_MP as a control</a:t>
            </a:r>
            <a:endParaRPr lang="en-US" sz="1200" dirty="0"/>
          </a:p>
        </p:txBody>
      </p:sp>
      <p:sp>
        <p:nvSpPr>
          <p:cNvPr id="21" name="Text 19"/>
          <p:cNvSpPr/>
          <p:nvPr/>
        </p:nvSpPr>
        <p:spPr>
          <a:xfrm>
            <a:off x="8503920" y="3090672"/>
            <a:ext cx="2926080" cy="219456"/>
          </a:xfrm>
          <a:prstGeom prst="rect">
            <a:avLst/>
          </a:prstGeom>
          <a:noFill/>
          <a:ln/>
        </p:spPr>
        <p:txBody>
          <a:bodyPr wrap="square" lIns="0" tIns="0" rIns="0" bIns="0" rtlCol="0" anchor="ctr"/>
          <a:lstStyle/>
          <a:p>
            <a:pPr indent="0" marL="0">
              <a:buNone/>
            </a:pPr>
            <a:r>
              <a:rPr lang="en-US" sz="950" dirty="0">
                <a:solidFill>
                  <a:srgbClr val="AEBCD0"/>
                </a:solidFill>
                <a:latin typeface="Calibri" pitchFamily="34" charset="0"/>
                <a:ea typeface="Calibri" pitchFamily="34" charset="-122"/>
                <a:cs typeface="Calibri" pitchFamily="34" charset="-120"/>
              </a:rPr>
              <a:t>~3 GPU-min · the missing null</a:t>
            </a:r>
            <a:endParaRPr lang="en-US" sz="950" dirty="0"/>
          </a:p>
        </p:txBody>
      </p:sp>
      <p:sp>
        <p:nvSpPr>
          <p:cNvPr id="22" name="Shape 20"/>
          <p:cNvSpPr/>
          <p:nvPr/>
        </p:nvSpPr>
        <p:spPr>
          <a:xfrm>
            <a:off x="8001000" y="3529584"/>
            <a:ext cx="384048" cy="384048"/>
          </a:xfrm>
          <a:prstGeom prst="ellipse">
            <a:avLst/>
          </a:prstGeom>
          <a:solidFill>
            <a:srgbClr val="1C7293"/>
          </a:solidFill>
          <a:ln/>
        </p:spPr>
      </p:sp>
      <p:sp>
        <p:nvSpPr>
          <p:cNvPr id="23" name="Text 21"/>
          <p:cNvSpPr/>
          <p:nvPr/>
        </p:nvSpPr>
        <p:spPr>
          <a:xfrm>
            <a:off x="8001000" y="3529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4" name="Text 22"/>
          <p:cNvSpPr/>
          <p:nvPr/>
        </p:nvSpPr>
        <p:spPr>
          <a:xfrm>
            <a:off x="8503920" y="3511296"/>
            <a:ext cx="292608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Project attacks onto v_C</a:t>
            </a:r>
            <a:endParaRPr lang="en-US" sz="1200" dirty="0"/>
          </a:p>
        </p:txBody>
      </p:sp>
      <p:sp>
        <p:nvSpPr>
          <p:cNvPr id="25" name="Text 23"/>
          <p:cNvSpPr/>
          <p:nvPr/>
        </p:nvSpPr>
        <p:spPr>
          <a:xfrm>
            <a:off x="8503920" y="3749040"/>
            <a:ext cx="2926080" cy="219456"/>
          </a:xfrm>
          <a:prstGeom prst="rect">
            <a:avLst/>
          </a:prstGeom>
          <a:noFill/>
          <a:ln/>
        </p:spPr>
        <p:txBody>
          <a:bodyPr wrap="square" lIns="0" tIns="0" rIns="0" bIns="0" rtlCol="0" anchor="ctr"/>
          <a:lstStyle/>
          <a:p>
            <a:pPr indent="0" marL="0">
              <a:buNone/>
            </a:pPr>
            <a:r>
              <a:rPr lang="en-US" sz="950" dirty="0">
                <a:solidFill>
                  <a:srgbClr val="AEBCD0"/>
                </a:solidFill>
                <a:latin typeface="Calibri" pitchFamily="34" charset="0"/>
                <a:ea typeface="Calibri" pitchFamily="34" charset="-122"/>
                <a:cs typeface="Calibri" pitchFamily="34" charset="-120"/>
              </a:rPr>
              <a:t>decides the one-sidedness</a:t>
            </a:r>
            <a:endParaRPr lang="en-US" sz="950" dirty="0"/>
          </a:p>
        </p:txBody>
      </p:sp>
      <p:sp>
        <p:nvSpPr>
          <p:cNvPr id="26" name="Shape 24"/>
          <p:cNvSpPr/>
          <p:nvPr/>
        </p:nvSpPr>
        <p:spPr>
          <a:xfrm>
            <a:off x="8001000" y="4187952"/>
            <a:ext cx="384048" cy="384048"/>
          </a:xfrm>
          <a:prstGeom prst="ellipse">
            <a:avLst/>
          </a:prstGeom>
          <a:solidFill>
            <a:srgbClr val="1C7293"/>
          </a:solidFill>
          <a:ln/>
        </p:spPr>
      </p:sp>
      <p:sp>
        <p:nvSpPr>
          <p:cNvPr id="27" name="Text 25"/>
          <p:cNvSpPr/>
          <p:nvPr/>
        </p:nvSpPr>
        <p:spPr>
          <a:xfrm>
            <a:off x="8001000" y="41879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6"/>
          <p:cNvSpPr/>
          <p:nvPr/>
        </p:nvSpPr>
        <p:spPr>
          <a:xfrm>
            <a:off x="8503920" y="4169664"/>
            <a:ext cx="292608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Audit ~100 judge verdicts</a:t>
            </a:r>
            <a:endParaRPr lang="en-US" sz="1200" dirty="0"/>
          </a:p>
        </p:txBody>
      </p:sp>
      <p:sp>
        <p:nvSpPr>
          <p:cNvPr id="29" name="Text 27"/>
          <p:cNvSpPr/>
          <p:nvPr/>
        </p:nvSpPr>
        <p:spPr>
          <a:xfrm>
            <a:off x="8503920" y="4407408"/>
            <a:ext cx="2926080" cy="219456"/>
          </a:xfrm>
          <a:prstGeom prst="rect">
            <a:avLst/>
          </a:prstGeom>
          <a:noFill/>
          <a:ln/>
        </p:spPr>
        <p:txBody>
          <a:bodyPr wrap="square" lIns="0" tIns="0" rIns="0" bIns="0" rtlCol="0" anchor="ctr"/>
          <a:lstStyle/>
          <a:p>
            <a:pPr indent="0" marL="0">
              <a:buNone/>
            </a:pPr>
            <a:r>
              <a:rPr lang="en-US" sz="950" dirty="0">
                <a:solidFill>
                  <a:srgbClr val="AEBCD0"/>
                </a:solidFill>
                <a:latin typeface="Calibri" pitchFamily="34" charset="0"/>
                <a:ea typeface="Calibri" pitchFamily="34" charset="-122"/>
                <a:cs typeface="Calibri" pitchFamily="34" charset="-120"/>
              </a:rPr>
              <a:t>by hand, before the write-up</a:t>
            </a:r>
            <a:endParaRPr lang="en-US" sz="950" dirty="0"/>
          </a:p>
        </p:txBody>
      </p:sp>
      <p:sp>
        <p:nvSpPr>
          <p:cNvPr id="30" name="Shape 28"/>
          <p:cNvSpPr/>
          <p:nvPr/>
        </p:nvSpPr>
        <p:spPr>
          <a:xfrm>
            <a:off x="8001000" y="4846320"/>
            <a:ext cx="384048" cy="384048"/>
          </a:xfrm>
          <a:prstGeom prst="ellipse">
            <a:avLst/>
          </a:prstGeom>
          <a:solidFill>
            <a:srgbClr val="1C7293"/>
          </a:solidFill>
          <a:ln/>
        </p:spPr>
      </p:sp>
      <p:sp>
        <p:nvSpPr>
          <p:cNvPr id="31" name="Text 29"/>
          <p:cNvSpPr/>
          <p:nvPr/>
        </p:nvSpPr>
        <p:spPr>
          <a:xfrm>
            <a:off x="8001000" y="4846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30"/>
          <p:cNvSpPr/>
          <p:nvPr/>
        </p:nvSpPr>
        <p:spPr>
          <a:xfrm>
            <a:off x="8503920" y="4828032"/>
            <a:ext cx="292608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Third steering layer</a:t>
            </a:r>
            <a:endParaRPr lang="en-US" sz="1200" dirty="0"/>
          </a:p>
        </p:txBody>
      </p:sp>
      <p:sp>
        <p:nvSpPr>
          <p:cNvPr id="33" name="Text 31"/>
          <p:cNvSpPr/>
          <p:nvPr/>
        </p:nvSpPr>
        <p:spPr>
          <a:xfrm>
            <a:off x="8503920" y="5065776"/>
            <a:ext cx="2926080" cy="219456"/>
          </a:xfrm>
          <a:prstGeom prst="rect">
            <a:avLst/>
          </a:prstGeom>
          <a:noFill/>
          <a:ln/>
        </p:spPr>
        <p:txBody>
          <a:bodyPr wrap="square" lIns="0" tIns="0" rIns="0" bIns="0" rtlCol="0" anchor="ctr"/>
          <a:lstStyle/>
          <a:p>
            <a:pPr indent="0" marL="0">
              <a:buNone/>
            </a:pPr>
            <a:r>
              <a:rPr lang="en-US" sz="950" dirty="0">
                <a:solidFill>
                  <a:srgbClr val="AEBCD0"/>
                </a:solidFill>
                <a:latin typeface="Calibri" pitchFamily="34" charset="0"/>
                <a:ea typeface="Calibri" pitchFamily="34" charset="-122"/>
                <a:cs typeface="Calibri" pitchFamily="34" charset="-120"/>
              </a:rPr>
              <a:t>peak at L18, or decay with depth?</a:t>
            </a:r>
            <a:endParaRPr lang="en-US" sz="950" dirty="0"/>
          </a:p>
        </p:txBody>
      </p:sp>
      <p:sp>
        <p:nvSpPr>
          <p:cNvPr id="34" name="Text 32"/>
          <p:cNvSpPr/>
          <p:nvPr/>
        </p:nvSpPr>
        <p:spPr>
          <a:xfrm>
            <a:off x="548640" y="5943600"/>
            <a:ext cx="11064240" cy="411480"/>
          </a:xfrm>
          <a:prstGeom prst="rect">
            <a:avLst/>
          </a:prstGeom>
          <a:noFill/>
          <a:ln/>
        </p:spPr>
        <p:txBody>
          <a:bodyPr wrap="square" lIns="0" tIns="0" rIns="0" bIns="0" rtlCol="0" anchor="ctr"/>
          <a:lstStyle/>
          <a:p>
            <a:pPr indent="0" marL="0">
              <a:buNone/>
            </a:pPr>
            <a:r>
              <a:rPr lang="en-US" sz="1050" dirty="0">
                <a:solidFill>
                  <a:srgbClr val="93A3B8"/>
                </a:solidFill>
                <a:latin typeface="Calibri" pitchFamily="34" charset="0"/>
                <a:ea typeface="Calibri" pitchFamily="34" charset="-122"/>
                <a:cs typeface="Calibri" pitchFamily="34" charset="-120"/>
              </a:rPr>
              <a:t>Scope: one model, one attack family, two layers, n = 100 per condition. Claims stay scoped to the real-vs-hypothetical contrast and the attacks actually tested.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Consequence Direction — Research Status</dc:title>
  <dc:subject>PptxGenJS Presentation</dc:subject>
  <dc:creator>consequence-direction</dc:creator>
  <cp:lastModifiedBy>consequence-direction</cp:lastModifiedBy>
  <cp:revision>1</cp:revision>
  <dcterms:created xsi:type="dcterms:W3CDTF">2026-08-14T14:57:07Z</dcterms:created>
  <dcterms:modified xsi:type="dcterms:W3CDTF">2026-08-14T14:57:07Z</dcterms:modified>
</cp:coreProperties>
</file>